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Spline Sans Bold"/>
      <p:regular r:id="rId201314"/>
    </p:embeddedFont>
    <p:embeddedFont>
      <p:font typeface="Barlow"/>
      <p:regular r:id="rId201315"/>
    </p:embeddedFont>
    <p:embeddedFont>
      <p:font typeface="Barlow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sv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0A081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93" y="115639"/>
            <a:ext cx="3274814" cy="49122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69023" y="931069"/>
            <a:ext cx="463495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Heart Disease Prediction System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3969023" y="2019746"/>
            <a:ext cx="509215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Machine Learning Project using 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969023" y="2440186"/>
            <a:ext cx="4634954" cy="1772245"/>
          </a:xfrm>
          <a:prstGeom prst="roundRect">
            <a:avLst>
              <a:gd name="adj" fmla="val 13060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988073" y="2459236"/>
            <a:ext cx="4596854" cy="867073"/>
          </a:xfrm>
          <a:prstGeom prst="rect">
            <a:avLst/>
          </a:prstGeom>
          <a:solidFill>
            <a:srgbClr val="0A081B"/>
          </a:solidFill>
          <a:ln/>
        </p:spPr>
      </p:sp>
      <p:sp>
        <p:nvSpPr>
          <p:cNvPr id="8" name="Text 5"/>
          <p:cNvSpPr/>
          <p:nvPr/>
        </p:nvSpPr>
        <p:spPr>
          <a:xfrm>
            <a:off x="4142333" y="2613496"/>
            <a:ext cx="171450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🔬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Predicting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142333" y="2925142"/>
            <a:ext cx="428833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Presence of heart disease using medical data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988073" y="3326309"/>
            <a:ext cx="4596854" cy="867073"/>
          </a:xfrm>
          <a:prstGeom prst="rect">
            <a:avLst/>
          </a:prstGeom>
          <a:solidFill>
            <a:srgbClr val="0A081B"/>
          </a:solidFill>
          <a:ln/>
        </p:spPr>
      </p:sp>
      <p:sp>
        <p:nvSpPr>
          <p:cNvPr id="11" name="Shape 8"/>
          <p:cNvSpPr/>
          <p:nvPr/>
        </p:nvSpPr>
        <p:spPr>
          <a:xfrm>
            <a:off x="3988073" y="3326309"/>
            <a:ext cx="4596854" cy="19050"/>
          </a:xfrm>
          <a:prstGeom prst="roundRect">
            <a:avLst>
              <a:gd name="adj" fmla="val 1215000"/>
            </a:avLst>
          </a:prstGeom>
          <a:solidFill>
            <a:srgbClr val="0FC3C0"/>
          </a:solidFill>
          <a:ln/>
        </p:spPr>
      </p:sp>
      <p:sp>
        <p:nvSpPr>
          <p:cNvPr id="12" name="Text 9"/>
          <p:cNvSpPr/>
          <p:nvPr/>
        </p:nvSpPr>
        <p:spPr>
          <a:xfrm>
            <a:off x="4142333" y="3480569"/>
            <a:ext cx="171450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📊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Approach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142333" y="3792215"/>
            <a:ext cx="428833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Supervised learning classification problem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0A081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94" y="101203"/>
            <a:ext cx="3294013" cy="49410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01529" y="406524"/>
            <a:ext cx="3457575" cy="375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Project Overview</a:t>
            </a:r>
            <a:endParaRPr lang="en-US" sz="2350" dirty="0"/>
          </a:p>
        </p:txBody>
      </p:sp>
      <p:sp>
        <p:nvSpPr>
          <p:cNvPr id="5" name="Text 2"/>
          <p:cNvSpPr/>
          <p:nvPr/>
        </p:nvSpPr>
        <p:spPr>
          <a:xfrm>
            <a:off x="3901529" y="958751"/>
            <a:ext cx="4769941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 end-to-end machine learning pipeline designed to predict heart disease risk from patient medical attributes — from raw data to actionable predictions.</a:t>
            </a:r>
            <a:endParaRPr lang="en-US" sz="1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529" y="1496616"/>
            <a:ext cx="675084" cy="81007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94709" y="1631603"/>
            <a:ext cx="150018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Data Collection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4694709" y="1889968"/>
            <a:ext cx="3976762" cy="202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Medical attributes from patients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1529" y="2306687"/>
            <a:ext cx="675084" cy="81007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94709" y="2441674"/>
            <a:ext cx="150018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Preprocessing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4694709" y="2700040"/>
            <a:ext cx="3976762" cy="202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Clean &amp; normalize data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1529" y="3116759"/>
            <a:ext cx="675084" cy="81007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94709" y="3251746"/>
            <a:ext cx="150018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Model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4694709" y="3510111"/>
            <a:ext cx="3976762" cy="202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Logistic Regression algorithm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1529" y="3926830"/>
            <a:ext cx="675084" cy="81007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694709" y="4061817"/>
            <a:ext cx="150018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Evaluation</a:t>
            </a:r>
            <a:endParaRPr lang="en-US" sz="1150" dirty="0"/>
          </a:p>
        </p:txBody>
      </p:sp>
      <p:sp>
        <p:nvSpPr>
          <p:cNvPr id="17" name="Text 10"/>
          <p:cNvSpPr/>
          <p:nvPr/>
        </p:nvSpPr>
        <p:spPr>
          <a:xfrm>
            <a:off x="4694709" y="4320183"/>
            <a:ext cx="3976762" cy="202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Accuracy &amp; performance metrics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23" y="620092"/>
            <a:ext cx="2577703" cy="257770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498875" y="874291"/>
            <a:ext cx="1406351" cy="290066"/>
          </a:xfrm>
          <a:prstGeom prst="roundRect">
            <a:avLst>
              <a:gd name="adj" fmla="val 63836"/>
            </a:avLst>
          </a:prstGeom>
          <a:solidFill>
            <a:srgbClr val="004D36"/>
          </a:solidFill>
          <a:ln/>
        </p:spPr>
      </p:sp>
      <p:sp>
        <p:nvSpPr>
          <p:cNvPr id="4" name="Text 1"/>
          <p:cNvSpPr/>
          <p:nvPr/>
        </p:nvSpPr>
        <p:spPr>
          <a:xfrm>
            <a:off x="3591446" y="920576"/>
            <a:ext cx="1678409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PROBLEM STATEMENT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3498875" y="1226046"/>
            <a:ext cx="510979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Why Heart Disease Detection Matters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3498875" y="2237556"/>
            <a:ext cx="5109790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Heart disease is a </a:t>
            </a:r>
            <a:pPr algn="l" indent="0" marL="0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major global health issue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and one of the leading causes of death worldwide. Early detection can save lives — yet manual diagnosis is time-consuming, complex, and prone to human error.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0973" y="3544863"/>
            <a:ext cx="2604195" cy="115207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0483" y="3718173"/>
            <a:ext cx="171450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🌍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Global Impact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770483" y="4029819"/>
            <a:ext cx="218137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Heart disease affects millions globally each year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60378" y="3544863"/>
            <a:ext cx="2604195" cy="115207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509888" y="3718173"/>
            <a:ext cx="171450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⏱️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Manual Diagnosis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3509888" y="4029819"/>
            <a:ext cx="218137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Time-consuming and complex for physicians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99783" y="3544863"/>
            <a:ext cx="2604195" cy="115207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49293" y="3718173"/>
            <a:ext cx="171450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🎯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Our Goal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6249293" y="4029819"/>
            <a:ext cx="218137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Build a model to classify patients as </a:t>
            </a:r>
            <a:pPr algn="l" indent="0" marL="0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diseased or healthy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6938" y="365075"/>
            <a:ext cx="2975372" cy="314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Dataset Description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96938" y="846237"/>
            <a:ext cx="6950125" cy="314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medical dataset contains </a:t>
            </a:r>
            <a:pPr algn="l" indent="0" marL="0">
              <a:lnSpc>
                <a:spcPct val="116000"/>
              </a:lnSpc>
              <a:buNone/>
            </a:pPr>
            <a:r>
              <a:rPr lang="en-US" sz="850" b="1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11 features</a:t>
            </a:r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capturing key patient health indicators, with a binary target variable indicating the presence or absence of heart disease.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6938" y="1347936"/>
            <a:ext cx="3336875" cy="33368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714949" y="2321868"/>
            <a:ext cx="1626840" cy="652909"/>
          </a:xfrm>
          <a:prstGeom prst="roundRect">
            <a:avLst>
              <a:gd name="adj" fmla="val 26034"/>
            </a:avLst>
          </a:prstGeom>
          <a:solidFill>
            <a:srgbClr val="0A081B">
              <a:alpha val="75000"/>
            </a:srgbClr>
          </a:solidFill>
          <a:ln w="14288">
            <a:solidFill>
              <a:srgbClr val="16FFB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42495" y="2449413"/>
            <a:ext cx="1259086" cy="157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Demographics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842495" y="2689994"/>
            <a:ext cx="1371749" cy="157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age, sex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424985" y="2321868"/>
            <a:ext cx="1626840" cy="652909"/>
          </a:xfrm>
          <a:prstGeom prst="roundRect">
            <a:avLst>
              <a:gd name="adj" fmla="val 26034"/>
            </a:avLst>
          </a:prstGeom>
          <a:solidFill>
            <a:srgbClr val="0A081B">
              <a:alpha val="75000"/>
            </a:srgbClr>
          </a:solidFill>
          <a:ln w="14288">
            <a:solidFill>
              <a:srgbClr val="29DD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52530" y="2449413"/>
            <a:ext cx="1259086" cy="157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Cardiovascular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552530" y="2689994"/>
            <a:ext cx="1371749" cy="157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cp, trestbps, chol, thalach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714949" y="3057971"/>
            <a:ext cx="1626840" cy="652909"/>
          </a:xfrm>
          <a:prstGeom prst="roundRect">
            <a:avLst>
              <a:gd name="adj" fmla="val 26034"/>
            </a:avLst>
          </a:prstGeom>
          <a:solidFill>
            <a:srgbClr val="0A081B">
              <a:alpha val="75000"/>
            </a:srgbClr>
          </a:solidFill>
          <a:ln w="14288">
            <a:solidFill>
              <a:srgbClr val="37A7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2495" y="3185517"/>
            <a:ext cx="1259086" cy="157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Diagnostic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842495" y="3426098"/>
            <a:ext cx="1371749" cy="157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fbs, restecg, exang, oldpeak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424985" y="3057971"/>
            <a:ext cx="1626840" cy="652909"/>
          </a:xfrm>
          <a:prstGeom prst="roundRect">
            <a:avLst>
              <a:gd name="adj" fmla="val 26034"/>
            </a:avLst>
          </a:prstGeom>
          <a:solidFill>
            <a:srgbClr val="0A081B">
              <a:alpha val="75000"/>
            </a:srgbClr>
          </a:solidFill>
          <a:ln w="14288">
            <a:solidFill>
              <a:srgbClr val="09123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52530" y="3185517"/>
            <a:ext cx="1259086" cy="157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Target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552530" y="3426098"/>
            <a:ext cx="1371749" cy="157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 = No Disease, 1 = Disease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0A081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66" y="92199"/>
            <a:ext cx="3306068" cy="49591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59337" y="382563"/>
            <a:ext cx="3189684" cy="341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Data Preprocessing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3859337" y="871091"/>
            <a:ext cx="4854327" cy="353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Before training the model, raw data was carefully cleaned and transformed to ensure high-quality input for the Logistic Regression algorithm.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3859337" y="1334616"/>
            <a:ext cx="245864" cy="1536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01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859337" y="1529283"/>
            <a:ext cx="4854327" cy="14288"/>
          </a:xfrm>
          <a:prstGeom prst="rect">
            <a:avLst/>
          </a:prstGeom>
          <a:solidFill>
            <a:srgbClr val="16FFBB"/>
          </a:solidFill>
          <a:ln/>
        </p:spPr>
      </p:sp>
      <p:sp>
        <p:nvSpPr>
          <p:cNvPr id="8" name="Text 5"/>
          <p:cNvSpPr/>
          <p:nvPr/>
        </p:nvSpPr>
        <p:spPr>
          <a:xfrm>
            <a:off x="3859337" y="1619324"/>
            <a:ext cx="1366242" cy="170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Remove Duplicates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859337" y="1848892"/>
            <a:ext cx="4854327" cy="176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Identified and removed duplicate records from the dataset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859337" y="2215679"/>
            <a:ext cx="245864" cy="1536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02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859337" y="2410346"/>
            <a:ext cx="4854327" cy="14288"/>
          </a:xfrm>
          <a:prstGeom prst="rect">
            <a:avLst/>
          </a:prstGeom>
          <a:solidFill>
            <a:srgbClr val="29DDDA"/>
          </a:solidFill>
          <a:ln/>
        </p:spPr>
      </p:sp>
      <p:sp>
        <p:nvSpPr>
          <p:cNvPr id="12" name="Text 9"/>
          <p:cNvSpPr/>
          <p:nvPr/>
        </p:nvSpPr>
        <p:spPr>
          <a:xfrm>
            <a:off x="3859337" y="2500387"/>
            <a:ext cx="1441772" cy="170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Handle Missing Values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859337" y="2729954"/>
            <a:ext cx="4854327" cy="176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Addressed gaps in the data to prevent training errors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859337" y="3096741"/>
            <a:ext cx="245864" cy="1536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03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859337" y="3291408"/>
            <a:ext cx="4854327" cy="14288"/>
          </a:xfrm>
          <a:prstGeom prst="rect">
            <a:avLst/>
          </a:prstGeom>
          <a:solidFill>
            <a:srgbClr val="37A7E7"/>
          </a:solidFill>
          <a:ln/>
        </p:spPr>
      </p:sp>
      <p:sp>
        <p:nvSpPr>
          <p:cNvPr id="16" name="Text 13"/>
          <p:cNvSpPr/>
          <p:nvPr/>
        </p:nvSpPr>
        <p:spPr>
          <a:xfrm>
            <a:off x="3859337" y="3381449"/>
            <a:ext cx="1451149" cy="170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Split Features &amp; Target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859337" y="3611017"/>
            <a:ext cx="4854327" cy="176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Separated input features (X) from the target variable (y)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859337" y="3977804"/>
            <a:ext cx="245864" cy="1536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04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859337" y="4172471"/>
            <a:ext cx="4854327" cy="14288"/>
          </a:xfrm>
          <a:prstGeom prst="rect">
            <a:avLst/>
          </a:prstGeom>
          <a:solidFill>
            <a:srgbClr val="091231"/>
          </a:solidFill>
          <a:ln/>
        </p:spPr>
      </p:sp>
      <p:sp>
        <p:nvSpPr>
          <p:cNvPr id="20" name="Text 17"/>
          <p:cNvSpPr/>
          <p:nvPr/>
        </p:nvSpPr>
        <p:spPr>
          <a:xfrm>
            <a:off x="3859337" y="4262512"/>
            <a:ext cx="2003450" cy="170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Normalize with StandardScaler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859337" y="4492079"/>
            <a:ext cx="4854327" cy="176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Applied StandardScaler to normalize feature scales for consistent model performance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1614" y="435248"/>
            <a:ext cx="5488558" cy="421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Exploratory Data Analysis (EDA)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531614" y="1156171"/>
            <a:ext cx="8537972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EDA revealed key patterns and relationships within the data, guiding feature selection and model design decisions.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31614" y="1714946"/>
            <a:ext cx="2144911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Key Findings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2564" y="2075036"/>
            <a:ext cx="1602060" cy="15786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1593" y="2094086"/>
            <a:ext cx="139303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📈</a:t>
            </a:r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Data Distribution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21593" y="2670274"/>
            <a:ext cx="1393031" cy="964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Analyzed feature distributions using histograms and boxplots</a:t>
            </a:r>
            <a:endParaRPr lang="en-US" sz="11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2428" y="2075036"/>
            <a:ext cx="1602060" cy="157869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491457" y="2094086"/>
            <a:ext cx="139303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🔗</a:t>
            </a:r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Feature Correlation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2491457" y="2670274"/>
            <a:ext cx="1393031" cy="964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Checked correlations between features using heatmaps</a:t>
            </a:r>
            <a:endParaRPr lang="en-US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52292" y="2075036"/>
            <a:ext cx="1602060" cy="157869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261321" y="2094086"/>
            <a:ext cx="139303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❤️</a:t>
            </a:r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Age &amp; Cholesterol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4261321" y="2670274"/>
            <a:ext cx="1393031" cy="964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Both show significant impact on heart disease likelihood</a:t>
            </a:r>
            <a:endParaRPr lang="en-US" sz="11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2564" y="3914626"/>
            <a:ext cx="5141788" cy="64442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21593" y="3933676"/>
            <a:ext cx="1687711" cy="215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💡</a:t>
            </a:r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Chest Pain Type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721593" y="4298900"/>
            <a:ext cx="4932759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Strongly related to the target variable — a key predictor</a:t>
            </a:r>
            <a:endParaRPr lang="en-US" sz="11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29697" y="1843088"/>
            <a:ext cx="2587377" cy="258737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23" y="743545"/>
            <a:ext cx="2577703" cy="257770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498875" y="1335509"/>
            <a:ext cx="828749" cy="290066"/>
          </a:xfrm>
          <a:prstGeom prst="roundRect">
            <a:avLst>
              <a:gd name="adj" fmla="val 63836"/>
            </a:avLst>
          </a:prstGeom>
          <a:solidFill>
            <a:srgbClr val="004D36"/>
          </a:solidFill>
          <a:ln/>
        </p:spPr>
      </p:sp>
      <p:sp>
        <p:nvSpPr>
          <p:cNvPr id="4" name="Text 1"/>
          <p:cNvSpPr/>
          <p:nvPr/>
        </p:nvSpPr>
        <p:spPr>
          <a:xfrm>
            <a:off x="3591446" y="1381795"/>
            <a:ext cx="1100807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ALGORITHM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3498875" y="1687264"/>
            <a:ext cx="468950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Logistic Regression Model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3498875" y="2270150"/>
            <a:ext cx="5109790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Logistic Regression is a </a:t>
            </a:r>
            <a:pPr algn="l" indent="0" marL="0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binary classification algorithm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that uses the sigmoid function to map input features to a probability between 0 and 1.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0023" y="3668316"/>
            <a:ext cx="2585145" cy="905173"/>
          </a:xfrm>
          <a:prstGeom prst="roundRect">
            <a:avLst>
              <a:gd name="adj" fmla="val 25571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3333" y="3841626"/>
            <a:ext cx="171450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⚡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Fast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13333" y="4153272"/>
            <a:ext cx="223852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Computationally efficient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79428" y="3668316"/>
            <a:ext cx="2585145" cy="905173"/>
          </a:xfrm>
          <a:prstGeom prst="roundRect">
            <a:avLst>
              <a:gd name="adj" fmla="val 25571"/>
            </a:avLst>
          </a:prstGeom>
          <a:solidFill>
            <a:srgbClr val="0A081B"/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52738" y="3841626"/>
            <a:ext cx="171450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🔍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Interpretable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452738" y="4153272"/>
            <a:ext cx="223852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Clear feature weights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018833" y="3668316"/>
            <a:ext cx="2585145" cy="905173"/>
          </a:xfrm>
          <a:prstGeom prst="roundRect">
            <a:avLst>
              <a:gd name="adj" fmla="val 25571"/>
            </a:avLst>
          </a:prstGeom>
          <a:solidFill>
            <a:srgbClr val="0A081B"/>
          </a:solidFill>
          <a:ln w="19050">
            <a:solidFill>
              <a:srgbClr val="37A7E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92143" y="3841626"/>
            <a:ext cx="171450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🎯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Binary Output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192143" y="4153272"/>
            <a:ext cx="223852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 = No Disease, 1 = Disease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9077" y="375940"/>
            <a:ext cx="3082528" cy="328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Model Training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949077" y="885006"/>
            <a:ext cx="7245846" cy="333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preprocessed dataset was split into training and testing subsets, enabling the model to learn patterns and then be evaluated on unseen data.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077" y="1320552"/>
            <a:ext cx="7245846" cy="31783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44994" y="3706647"/>
            <a:ext cx="1095096" cy="174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Scale Data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3144994" y="3936711"/>
            <a:ext cx="1095096" cy="276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Fit StandardScaler on train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623854" y="3706647"/>
            <a:ext cx="1095095" cy="174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Predict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623854" y="3936711"/>
            <a:ext cx="1095095" cy="276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Generate predictions on test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443909" y="1606215"/>
            <a:ext cx="1095096" cy="174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Split Dataset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443909" y="1836280"/>
            <a:ext cx="1095096" cy="276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Train/test split of data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908825" y="1606215"/>
            <a:ext cx="1095095" cy="174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Train Model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908825" y="1836280"/>
            <a:ext cx="1095095" cy="276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Fit Logistic Regression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949077" y="4600649"/>
            <a:ext cx="7703046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model learned the relationship between patient features and the target variable, enabling it to generalize to new, unseen patient data.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0A081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8" y="83121"/>
            <a:ext cx="3318123" cy="49771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17144" y="341858"/>
            <a:ext cx="2921794" cy="308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Model Evaluation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3817144" y="824880"/>
            <a:ext cx="4938712" cy="365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79%</a:t>
            </a:r>
            <a:endParaRPr lang="en-US" sz="2850" dirty="0"/>
          </a:p>
        </p:txBody>
      </p:sp>
      <p:sp>
        <p:nvSpPr>
          <p:cNvPr id="6" name="Text 3"/>
          <p:cNvSpPr/>
          <p:nvPr/>
        </p:nvSpPr>
        <p:spPr>
          <a:xfrm>
            <a:off x="5670352" y="1306041"/>
            <a:ext cx="1232297" cy="154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Accuracy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17144" y="1507852"/>
            <a:ext cx="493871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Overall correct predictions on test data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3817144" y="1749921"/>
            <a:ext cx="49387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Multiple evaluation metrics were used to assess model performance beyond simple accuracy, ensuring reliable detection of heart disease cases.</a:t>
            </a:r>
            <a:endParaRPr lang="en-US" sz="8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02856" y="2144390"/>
            <a:ext cx="4953000" cy="6045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985171" y="2269554"/>
            <a:ext cx="1232297" cy="154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📐</a:t>
            </a:r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Precision &amp; Recall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3985171" y="2471365"/>
            <a:ext cx="464552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Measured the model's ability to correctly identify positive cases while minimizing false positives</a:t>
            </a:r>
            <a:endParaRPr lang="en-US" sz="8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02856" y="2828627"/>
            <a:ext cx="4953000" cy="6045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985171" y="2953792"/>
            <a:ext cx="1232297" cy="154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📊</a:t>
            </a:r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F1-Score</a:t>
            </a:r>
            <a:endParaRPr lang="en-US" sz="950" dirty="0"/>
          </a:p>
        </p:txBody>
      </p:sp>
      <p:sp>
        <p:nvSpPr>
          <p:cNvPr id="14" name="Text 9"/>
          <p:cNvSpPr/>
          <p:nvPr/>
        </p:nvSpPr>
        <p:spPr>
          <a:xfrm>
            <a:off x="3985171" y="3155603"/>
            <a:ext cx="464552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Harmonic mean of precision and recall — balanced performance metric</a:t>
            </a:r>
            <a:endParaRPr lang="en-US" sz="8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02856" y="3512865"/>
            <a:ext cx="4953000" cy="6045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985171" y="3638029"/>
            <a:ext cx="1232297" cy="154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🔲</a:t>
            </a:r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Confusion Matrix</a:t>
            </a:r>
            <a:endParaRPr lang="en-US" sz="950" dirty="0"/>
          </a:p>
        </p:txBody>
      </p:sp>
      <p:sp>
        <p:nvSpPr>
          <p:cNvPr id="17" name="Text 11"/>
          <p:cNvSpPr/>
          <p:nvPr/>
        </p:nvSpPr>
        <p:spPr>
          <a:xfrm>
            <a:off x="3985171" y="3839840"/>
            <a:ext cx="464552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Analyzed to understand true positives, false positives, true negatives, and false negatives</a:t>
            </a:r>
            <a:endParaRPr lang="en-US" sz="8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02856" y="4197102"/>
            <a:ext cx="4953000" cy="6045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985171" y="4322266"/>
            <a:ext cx="1232297" cy="154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Good Recall</a:t>
            </a:r>
            <a:endParaRPr lang="en-US" sz="950" dirty="0"/>
          </a:p>
        </p:txBody>
      </p:sp>
      <p:sp>
        <p:nvSpPr>
          <p:cNvPr id="20" name="Text 13"/>
          <p:cNvSpPr/>
          <p:nvPr/>
        </p:nvSpPr>
        <p:spPr>
          <a:xfrm>
            <a:off x="3985171" y="4524077"/>
            <a:ext cx="464552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Strong performance in detecting actual heart disease patients — critical for medical applications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1142" y="449089"/>
            <a:ext cx="3777481" cy="341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Conclusion &amp; Future Work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712663" y="937617"/>
            <a:ext cx="3797796" cy="3756720"/>
          </a:xfrm>
          <a:prstGeom prst="roundRect">
            <a:avLst>
              <a:gd name="adj" fmla="val 7855"/>
            </a:avLst>
          </a:prstGeom>
          <a:solidFill>
            <a:srgbClr val="091231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35596" y="1047824"/>
            <a:ext cx="743471" cy="234107"/>
          </a:xfrm>
          <a:prstGeom prst="roundRect">
            <a:avLst>
              <a:gd name="adj" fmla="val 63029"/>
            </a:avLst>
          </a:prstGeom>
          <a:noFill/>
          <a:ln w="9525">
            <a:solidFill>
              <a:srgbClr val="16FFB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8865" y="1094184"/>
            <a:ext cx="1034132" cy="141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CONCLUSION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35596" y="1321073"/>
            <a:ext cx="1823442" cy="170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What We Achieved</a:t>
            </a:r>
            <a:endParaRPr lang="en-US" sz="10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1658" y="1608125"/>
            <a:ext cx="184398" cy="18439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5125" y="1602060"/>
            <a:ext cx="1315194" cy="706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Logistic Regression </a:t>
            </a:r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successfully predicts</a:t>
            </a:r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heart disease from medical data</a:t>
            </a:r>
            <a:endParaRPr lang="en-US" sz="9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18792" y="1608125"/>
            <a:ext cx="184398" cy="18439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072259" y="1602060"/>
            <a:ext cx="1315269" cy="353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Achieved </a:t>
            </a:r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~79% accuracy</a:t>
            </a:r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on the test set</a:t>
            </a:r>
            <a:endParaRPr lang="en-US" sz="9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1658" y="2510693"/>
            <a:ext cx="184398" cy="18439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5125" y="2504629"/>
            <a:ext cx="3152403" cy="353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Strong performance in </a:t>
            </a:r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detecting positive cases</a:t>
            </a:r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high recall for diseased patients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4726632" y="1047824"/>
            <a:ext cx="1225897" cy="215057"/>
          </a:xfrm>
          <a:prstGeom prst="roundRect">
            <a:avLst>
              <a:gd name="adj" fmla="val 68612"/>
            </a:avLst>
          </a:prstGeom>
          <a:solidFill>
            <a:srgbClr val="004D36"/>
          </a:solidFill>
          <a:ln/>
        </p:spPr>
      </p:sp>
      <p:sp>
        <p:nvSpPr>
          <p:cNvPr id="14" name="Text 9"/>
          <p:cNvSpPr/>
          <p:nvPr/>
        </p:nvSpPr>
        <p:spPr>
          <a:xfrm>
            <a:off x="4800377" y="1084659"/>
            <a:ext cx="1535609" cy="141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FUTURE IMPROVEMENTS</a:t>
            </a:r>
            <a:endParaRPr lang="en-US" sz="750" dirty="0"/>
          </a:p>
        </p:txBody>
      </p:sp>
      <p:sp>
        <p:nvSpPr>
          <p:cNvPr id="15" name="Text 10"/>
          <p:cNvSpPr/>
          <p:nvPr/>
        </p:nvSpPr>
        <p:spPr>
          <a:xfrm>
            <a:off x="4726632" y="1302023"/>
            <a:ext cx="1823442" cy="170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What's Next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726632" y="1583010"/>
            <a:ext cx="1761455" cy="1539925"/>
          </a:xfrm>
          <a:prstGeom prst="roundRect">
            <a:avLst>
              <a:gd name="adj" fmla="val 11977"/>
            </a:avLst>
          </a:prstGeom>
          <a:solidFill>
            <a:srgbClr val="0A081B"/>
          </a:solidFill>
          <a:ln w="14288">
            <a:solidFill>
              <a:srgbClr val="16FFBB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863852" y="1720230"/>
            <a:ext cx="368871" cy="368871"/>
          </a:xfrm>
          <a:prstGeom prst="roundRect">
            <a:avLst>
              <a:gd name="adj" fmla="val 15491672"/>
            </a:avLst>
          </a:prstGeom>
          <a:solidFill>
            <a:srgbClr val="16FFB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5278" y="1821656"/>
            <a:ext cx="165943" cy="16594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863852" y="2187029"/>
            <a:ext cx="1366242" cy="170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Advanced Models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4863852" y="2455738"/>
            <a:ext cx="1487016" cy="529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Try Random Forest and XGBoost for better accuracy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6586017" y="1583010"/>
            <a:ext cx="1761455" cy="1539925"/>
          </a:xfrm>
          <a:prstGeom prst="roundRect">
            <a:avLst>
              <a:gd name="adj" fmla="val 11977"/>
            </a:avLst>
          </a:prstGeom>
          <a:solidFill>
            <a:srgbClr val="0A081B"/>
          </a:solidFill>
          <a:ln w="14288">
            <a:solidFill>
              <a:srgbClr val="29DDDA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723236" y="1720230"/>
            <a:ext cx="368871" cy="368871"/>
          </a:xfrm>
          <a:prstGeom prst="roundRect">
            <a:avLst>
              <a:gd name="adj" fmla="val 15491672"/>
            </a:avLst>
          </a:prstGeom>
          <a:solidFill>
            <a:srgbClr val="29DDDA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24663" y="1821656"/>
            <a:ext cx="165943" cy="16594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723236" y="2187029"/>
            <a:ext cx="1487016" cy="341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Hyperparameter Tuning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6723236" y="2626519"/>
            <a:ext cx="1487016" cy="353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Optimize model parameters using GridSearchCV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4726632" y="3220864"/>
            <a:ext cx="1761455" cy="1363266"/>
          </a:xfrm>
          <a:prstGeom prst="roundRect">
            <a:avLst>
              <a:gd name="adj" fmla="val 13529"/>
            </a:avLst>
          </a:prstGeom>
          <a:solidFill>
            <a:srgbClr val="0A081B"/>
          </a:solidFill>
          <a:ln w="14288">
            <a:solidFill>
              <a:srgbClr val="37A7E7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4863852" y="3358083"/>
            <a:ext cx="368871" cy="368871"/>
          </a:xfrm>
          <a:prstGeom prst="roundRect">
            <a:avLst>
              <a:gd name="adj" fmla="val 15491672"/>
            </a:avLst>
          </a:prstGeom>
          <a:solidFill>
            <a:srgbClr val="37A7E7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65278" y="3459510"/>
            <a:ext cx="165943" cy="165943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863852" y="3824883"/>
            <a:ext cx="1366242" cy="170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Feature Engineering</a:t>
            </a:r>
            <a:endParaRPr lang="en-US" sz="1050" dirty="0"/>
          </a:p>
        </p:txBody>
      </p:sp>
      <p:sp>
        <p:nvSpPr>
          <p:cNvPr id="30" name="Text 22"/>
          <p:cNvSpPr/>
          <p:nvPr/>
        </p:nvSpPr>
        <p:spPr>
          <a:xfrm>
            <a:off x="4863852" y="4093592"/>
            <a:ext cx="1487016" cy="353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Create new derived features to improve predictions</a:t>
            </a:r>
            <a:endParaRPr lang="en-US" sz="950" dirty="0"/>
          </a:p>
        </p:txBody>
      </p:sp>
      <p:sp>
        <p:nvSpPr>
          <p:cNvPr id="31" name="Shape 23"/>
          <p:cNvSpPr/>
          <p:nvPr/>
        </p:nvSpPr>
        <p:spPr>
          <a:xfrm>
            <a:off x="6586017" y="3220864"/>
            <a:ext cx="1761455" cy="1363266"/>
          </a:xfrm>
          <a:prstGeom prst="roundRect">
            <a:avLst>
              <a:gd name="adj" fmla="val 13529"/>
            </a:avLst>
          </a:prstGeom>
          <a:solidFill>
            <a:srgbClr val="0A081B"/>
          </a:solidFill>
          <a:ln w="14288">
            <a:solidFill>
              <a:srgbClr val="091231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6723236" y="3358083"/>
            <a:ext cx="368871" cy="368871"/>
          </a:xfrm>
          <a:prstGeom prst="roundRect">
            <a:avLst>
              <a:gd name="adj" fmla="val 15491672"/>
            </a:avLst>
          </a:prstGeom>
          <a:solidFill>
            <a:srgbClr val="091231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824663" y="3459510"/>
            <a:ext cx="165943" cy="165943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723236" y="3824883"/>
            <a:ext cx="1366242" cy="170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Deploy as Web App</a:t>
            </a:r>
            <a:endParaRPr lang="en-US" sz="1050" dirty="0"/>
          </a:p>
        </p:txBody>
      </p:sp>
      <p:sp>
        <p:nvSpPr>
          <p:cNvPr id="35" name="Text 26"/>
          <p:cNvSpPr/>
          <p:nvPr/>
        </p:nvSpPr>
        <p:spPr>
          <a:xfrm>
            <a:off x="6723236" y="4093592"/>
            <a:ext cx="1487016" cy="353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Build a Flask or Streamlit interface for real-world use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2026-06-10T16:00:23Z</dcterms:created>
  <dcterms:modified xsi:type="dcterms:W3CDTF">2026-06-10T16:00:23Z</dcterms:modified>
</cp:coreProperties>
</file>